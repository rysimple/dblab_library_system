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7"/>
  </p:notesMasterIdLst>
  <p:handoutMasterIdLst>
    <p:handoutMasterId r:id="rId28"/>
  </p:handoutMasterIdLst>
  <p:sldIdLst>
    <p:sldId id="577" r:id="rId3"/>
    <p:sldId id="698" r:id="rId4"/>
    <p:sldId id="839" r:id="rId5"/>
    <p:sldId id="769" r:id="rId6"/>
    <p:sldId id="770" r:id="rId7"/>
    <p:sldId id="777" r:id="rId8"/>
    <p:sldId id="840" r:id="rId9"/>
    <p:sldId id="837" r:id="rId10"/>
    <p:sldId id="768" r:id="rId11"/>
    <p:sldId id="872" r:id="rId12"/>
    <p:sldId id="822" r:id="rId13"/>
    <p:sldId id="873" r:id="rId14"/>
    <p:sldId id="771" r:id="rId15"/>
    <p:sldId id="772" r:id="rId16"/>
    <p:sldId id="774" r:id="rId17"/>
    <p:sldId id="776" r:id="rId18"/>
    <p:sldId id="783" r:id="rId19"/>
    <p:sldId id="784" r:id="rId20"/>
    <p:sldId id="785" r:id="rId21"/>
    <p:sldId id="841" r:id="rId22"/>
    <p:sldId id="843" r:id="rId23"/>
    <p:sldId id="874" r:id="rId24"/>
    <p:sldId id="875" r:id="rId25"/>
    <p:sldId id="842" r:id="rId26"/>
  </p:sldIdLst>
  <p:sldSz cx="9144000" cy="6858000" type="screen4x3"/>
  <p:notesSz cx="7104063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89D444"/>
    <a:srgbClr val="FB33F1"/>
    <a:srgbClr val="FC6CF5"/>
    <a:srgbClr val="B2E385"/>
    <a:srgbClr val="FF3300"/>
    <a:srgbClr val="5F9F25"/>
    <a:srgbClr val="8960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89307" autoAdjust="0"/>
  </p:normalViewPr>
  <p:slideViewPr>
    <p:cSldViewPr>
      <p:cViewPr varScale="1">
        <p:scale>
          <a:sx n="104" d="100"/>
          <a:sy n="104" d="100"/>
        </p:scale>
        <p:origin x="1890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89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 eaLnBrk="1" hangingPunct="1">
              <a:buFontTx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1175"/>
          </a:xfrm>
          <a:prstGeom prst="rect">
            <a:avLst/>
          </a:prstGeom>
        </p:spPr>
        <p:txBody>
          <a:bodyPr vert="horz" wrap="square" lIns="99075" tIns="49538" rIns="99075" bIns="49538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300" noProof="1"/>
            </a:lvl1pPr>
          </a:lstStyle>
          <a:p>
            <a:pPr>
              <a:defRPr/>
            </a:pPr>
            <a:r>
              <a:rPr lang="zh-CN" altLang="zh-CN"/>
              <a:t>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1175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 eaLnBrk="1" hangingPunct="1">
              <a:buFontTx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1175"/>
          </a:xfrm>
          <a:prstGeom prst="rect">
            <a:avLst/>
          </a:prstGeom>
        </p:spPr>
        <p:txBody>
          <a:bodyPr vert="horz" wrap="square" lIns="99075" tIns="49538" rIns="99075" bIns="49538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300" noProof="1">
                <a:cs typeface="+mn-ea"/>
              </a:defRPr>
            </a:lvl1pPr>
          </a:lstStyle>
          <a:p>
            <a:pPr>
              <a:defRPr/>
            </a:pPr>
            <a:fld id="{7E5675E8-1817-49B5-B80F-CD8BDB5BC9DA}" type="slidenum">
              <a:rPr lang="en-US" altLang="zh-CN"/>
              <a:t>‹#›</a:t>
            </a:fld>
            <a:endParaRPr lang="en-US" altLang="zh-CN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algn="l" eaLnBrk="1" hangingPunct="1">
              <a:buFontTx/>
              <a:buNone/>
              <a:defRPr kumimoji="1"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90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300" b="0" noProof="1"/>
            </a:lvl1pPr>
          </a:lstStyle>
          <a:p>
            <a:pPr>
              <a:defRPr/>
            </a:pPr>
            <a:r>
              <a:rPr lang="zh-CN" altLang="zh-CN"/>
              <a:t>1</a:t>
            </a:r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95363" y="768350"/>
            <a:ext cx="5113337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0925"/>
            <a:ext cx="5208587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b" anchorCtr="0" compatLnSpc="1"/>
          <a:lstStyle>
            <a:lvl1pPr algn="l" eaLnBrk="1" hangingPunct="1">
              <a:buFontTx/>
              <a:buNone/>
              <a:defRPr kumimoji="1"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90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75" tIns="49538" rIns="99075" bIns="49538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300" b="0" noProof="1">
                <a:cs typeface="+mn-ea"/>
              </a:defRPr>
            </a:lvl1pPr>
          </a:lstStyle>
          <a:p>
            <a:pPr>
              <a:defRPr/>
            </a:pPr>
            <a:fld id="{D2424691-8602-4517-8453-856708CC4337}" type="slidenum">
              <a:rPr lang="en-US" altLang="zh-CN"/>
              <a:t>‹#›</a:t>
            </a:fld>
            <a:endParaRPr lang="en-US" altLang="zh-CN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22531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专业基础课</a:t>
            </a:r>
            <a:endParaRPr lang="en-US" altLang="zh-CN" dirty="0"/>
          </a:p>
          <a:p>
            <a:r>
              <a:rPr lang="zh-CN" altLang="en-US" dirty="0"/>
              <a:t>数据管理的入门课</a:t>
            </a:r>
          </a:p>
        </p:txBody>
      </p:sp>
      <p:sp>
        <p:nvSpPr>
          <p:cNvPr id="22532" name="日期占位符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5180" indent="-30988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382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335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28850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860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432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004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57650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300"/>
              <a:t>1</a:t>
            </a:r>
          </a:p>
        </p:txBody>
      </p:sp>
      <p:sp>
        <p:nvSpPr>
          <p:cNvPr id="10244" name="灯片编号占位符 4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5180" indent="-309880"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38250" indent="-247650"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33550" indent="-247650"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29485" indent="-247650">
              <a:spcBef>
                <a:spcPct val="30000"/>
              </a:spcBef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24785" indent="-24765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20085" indent="-24765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715385" indent="-24765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210685" indent="-24765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88D0AB1-430E-4171-9944-D72A7EBE0911}" type="slidenum">
              <a:rPr altLang="zh-CN" dirty="0" smtClean="0"/>
              <a:t>1</a:t>
            </a:fld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06606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12290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/>
              <a:t>1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581AA-3C09-4C51-A8FB-F6CC0CDC4D8B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8012E-351A-48BF-8652-0C57DF3267D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44EB6-C508-4118-9F7E-51C551E53E28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977A5-0DAD-46D2-9839-061BDADF8AE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DBCBA-D2D8-4043-B1A6-F079FDBFA245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91993-E180-484C-9F55-0BD4CF15C2D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8510B-3984-4A3F-A43D-1D61541DAD22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D2CF6-C901-4F5C-A18D-E81156F4A9C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EB13C-3A75-4A5A-A119-A1CE0A32985A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46353-E1F3-4640-978A-E1E70EA5D85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1745B-946E-4C55-A3AE-47244AA875F7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C69F1A-4823-40AA-AF89-3E1A2057F5C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40EB9-ADF5-4B7B-B8A3-CB22EF983E86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B1746-49F0-4089-B08E-DFB6DE86B60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F01F0-38E2-4221-8DBC-4CFB1CBA26AC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644C1-71A6-4595-8578-E0BD56EFDC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93825-5647-4532-A554-B1ACED89E3D3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1B42E-34E3-42F1-99CE-3DB546D1E77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496BB-6BE4-4681-B1F9-3EEE7B0F9EDA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45A08-B385-4310-9989-95815D11CBB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2376D-46DF-4437-9174-E46A22134743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79C13-95FC-48C8-B1D4-76EC224B6A7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E:\2013Qi\2012教育部奖 杰青申请 安徽省科技进步奖\申请资料\答辩PPT\ustc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77788"/>
            <a:ext cx="1084262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2556F-2587-4925-8D6D-5AB6F99E21D2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Systems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E12B7-DAEE-4CCA-BA22-D19F0E42C0D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E:\2013Qi\2012教育部奖 杰青申请 安徽省科技进步奖\申请资料\答辩PPT\ustc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77788"/>
            <a:ext cx="1084262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5105400" cy="990600"/>
          </a:xfrm>
        </p:spPr>
        <p:txBody>
          <a:bodyPr/>
          <a:lstStyle>
            <a:lvl1pPr>
              <a:defRPr sz="3600" baseline="0">
                <a:solidFill>
                  <a:schemeClr val="accent2">
                    <a:lumMod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 baseline="0">
                <a:latin typeface="Palatino Linotype" panose="02040502050505030304" pitchFamily="18" charset="0"/>
              </a:defRPr>
            </a:lvl1pPr>
            <a:lvl2pPr>
              <a:defRPr baseline="0">
                <a:latin typeface="Palatino Linotype" panose="02040502050505030304" pitchFamily="18" charset="0"/>
              </a:defRPr>
            </a:lvl2pPr>
            <a:lvl3pPr>
              <a:defRPr baseline="0">
                <a:latin typeface="Palatino Linotype" panose="02040502050505030304" pitchFamily="18" charset="0"/>
              </a:defRPr>
            </a:lvl3pPr>
            <a:lvl4pPr>
              <a:defRPr baseline="0">
                <a:latin typeface="Palatino Linotype" panose="02040502050505030304" pitchFamily="18" charset="0"/>
              </a:defRPr>
            </a:lvl4pPr>
            <a:lvl5pPr>
              <a:defRPr baseline="0">
                <a:latin typeface="Palatino Linotype" panose="02040502050505030304" pitchFamily="18" charset="0"/>
              </a:defRPr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907A8-089E-4A15-9594-51BFD03E806F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6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Systems</a:t>
            </a:r>
          </a:p>
        </p:txBody>
      </p:sp>
      <p:sp>
        <p:nvSpPr>
          <p:cNvPr id="7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1CD74-CA7A-4720-8168-AF9988A34C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E:\2013Qi\2012教育部奖 杰青申请 安徽省科技进步奖\申请资料\答辩PPT\ustc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77788"/>
            <a:ext cx="1084262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0488" y="228600"/>
            <a:ext cx="6024562" cy="99060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1148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1148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4B94B-6E28-434F-9E4C-260086081422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An Introduction to Database Systems</a:t>
            </a: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1271588"/>
            <a:ext cx="609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31F07-4FE3-4FC2-91E3-862CEA022B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FE301-843C-4BEC-8243-28380AFC052C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Systems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7718-1FDA-44AB-91D4-0193D711901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63A56-7549-4B4A-A90E-CC5B29018169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Systems</a:t>
            </a: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17AD9-24B1-4965-8ACB-069DFFDE73A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828800"/>
            <a:ext cx="4038600" cy="21717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52900"/>
            <a:ext cx="4038600" cy="21717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F5901-9113-4430-A5FB-9D8A1155278F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Systems</a:t>
            </a: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FCF6E-01A2-41D0-A547-31940D5ED01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18DE6-F49F-480A-9F1B-925F7150FEAA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Systems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BA2FF-77D8-4FB2-BA47-EB0F8B0C947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828800"/>
            <a:ext cx="4038600" cy="21717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52900"/>
            <a:ext cx="4038600" cy="21717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475FD-BC63-4721-98B9-58879C866AA3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Database Systems</a:t>
            </a: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C898F6-2044-4844-8CB6-B39BC90B20C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/>
          <p:nvPr/>
        </p:nvSpPr>
        <p:spPr bwMode="gray">
          <a:xfrm>
            <a:off x="-9525" y="1447800"/>
            <a:ext cx="9164638" cy="3832225"/>
          </a:xfrm>
          <a:custGeom>
            <a:avLst/>
            <a:gdLst>
              <a:gd name="T0" fmla="*/ 2147483646 w 5773"/>
              <a:gd name="T1" fmla="*/ 2147483646 h 2414"/>
              <a:gd name="T2" fmla="*/ 2147483646 w 5773"/>
              <a:gd name="T3" fmla="*/ 2147483646 h 2414"/>
              <a:gd name="T4" fmla="*/ 2147483646 w 5773"/>
              <a:gd name="T5" fmla="*/ 2147483646 h 2414"/>
              <a:gd name="T6" fmla="*/ 2147483646 w 5773"/>
              <a:gd name="T7" fmla="*/ 2147483646 h 2414"/>
              <a:gd name="T8" fmla="*/ 2147483646 w 5773"/>
              <a:gd name="T9" fmla="*/ 2147483646 h 2414"/>
              <a:gd name="T10" fmla="*/ 2147483646 w 5773"/>
              <a:gd name="T11" fmla="*/ 2147483646 h 2414"/>
              <a:gd name="T12" fmla="*/ 2147483646 w 5773"/>
              <a:gd name="T13" fmla="*/ 2147483646 h 2414"/>
              <a:gd name="T14" fmla="*/ 2147483646 w 5773"/>
              <a:gd name="T15" fmla="*/ 2147483646 h 2414"/>
              <a:gd name="T16" fmla="*/ 2147483646 w 5773"/>
              <a:gd name="T17" fmla="*/ 2147483646 h 241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3"/>
          <p:cNvSpPr/>
          <p:nvPr/>
        </p:nvSpPr>
        <p:spPr bwMode="gray">
          <a:xfrm>
            <a:off x="-9525" y="1730375"/>
            <a:ext cx="9150350" cy="3265488"/>
          </a:xfrm>
          <a:custGeom>
            <a:avLst/>
            <a:gdLst>
              <a:gd name="T0" fmla="*/ 2147483646 w 5764"/>
              <a:gd name="T1" fmla="*/ 2147483646 h 2057"/>
              <a:gd name="T2" fmla="*/ 2147483646 w 5764"/>
              <a:gd name="T3" fmla="*/ 2147483646 h 2057"/>
              <a:gd name="T4" fmla="*/ 2147483646 w 5764"/>
              <a:gd name="T5" fmla="*/ 2147483646 h 2057"/>
              <a:gd name="T6" fmla="*/ 2147483646 w 5764"/>
              <a:gd name="T7" fmla="*/ 2147483646 h 2057"/>
              <a:gd name="T8" fmla="*/ 2147483646 w 5764"/>
              <a:gd name="T9" fmla="*/ 2147483646 h 2057"/>
              <a:gd name="T10" fmla="*/ 2147483646 w 5764"/>
              <a:gd name="T11" fmla="*/ 2147483646 h 2057"/>
              <a:gd name="T12" fmla="*/ 2147483646 w 5764"/>
              <a:gd name="T13" fmla="*/ 2147483646 h 2057"/>
              <a:gd name="T14" fmla="*/ 2147483646 w 5764"/>
              <a:gd name="T15" fmla="*/ 2147483646 h 2057"/>
              <a:gd name="T16" fmla="*/ 2147483646 w 5764"/>
              <a:gd name="T17" fmla="*/ 2147483646 h 20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4"/>
          <p:cNvGrpSpPr/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7" name="Oval 5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grpSp>
        <p:nvGrpSpPr>
          <p:cNvPr id="9" name="Group 7"/>
          <p:cNvGrpSpPr/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10" name="Oval 8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en-US" altLang="zh-CN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grpSp>
        <p:nvGrpSpPr>
          <p:cNvPr id="12" name="Group 10"/>
          <p:cNvGrpSpPr/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13" name="Oval 11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en-US" altLang="zh-CN"/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pic>
        <p:nvPicPr>
          <p:cNvPr id="15" name="Picture 2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33375"/>
            <a:ext cx="8763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5108" name="Rectangle 20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fld id="{BA8C82D8-26A2-4F07-9EFB-AD085EB7EC73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5364163" y="6381750"/>
            <a:ext cx="3529012" cy="287338"/>
          </a:xfrm>
          <a:ln>
            <a:miter lim="800000"/>
          </a:ln>
        </p:spPr>
        <p:txBody>
          <a:bodyPr anchor="t"/>
          <a:lstStyle>
            <a:lvl1pPr>
              <a:defRPr b="1">
                <a:solidFill>
                  <a:srgbClr val="FF3300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</a:p>
        </p:txBody>
      </p:sp>
      <p:sp>
        <p:nvSpPr>
          <p:cNvPr id="19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457200" y="6389688"/>
            <a:ext cx="2057400" cy="365125"/>
          </a:xfrm>
        </p:spPr>
        <p:txBody>
          <a:bodyPr/>
          <a:lstStyle>
            <a:lvl1pPr algn="r">
              <a:defRPr sz="12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DFDF92A6-DAF4-41B9-9E08-B6A7CE3C422D}" type="slidenum">
              <a:rPr lang="zh-CN" altLang="en-US"/>
              <a:t>‹#›</a:t>
            </a:fld>
            <a:endParaRPr lang="zh-CN" altLang="en-US">
              <a:latin typeface="Tw Cen MT" panose="020B0602020104020603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17E9A9-D54F-4541-8C17-CD10DB7F036F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An Introduction to Database Systems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cs typeface="+mn-ea"/>
              </a:defRPr>
            </a:lvl1pPr>
          </a:lstStyle>
          <a:p>
            <a:pPr>
              <a:defRPr/>
            </a:pPr>
            <a:fld id="{F6970827-F5A1-4004-BF3C-0D739A85673B}" type="slidenum">
              <a:rPr lang="zh-CN" altLang="en-US"/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2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360488" y="228600"/>
            <a:ext cx="602456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Text Placeholder 12"/>
          <p:cNvSpPr>
            <a:spLocks noGrp="1" noChangeArrowheads="1"/>
          </p:cNvSpPr>
          <p:nvPr>
            <p:ph type="body" idx="9"/>
          </p:nvPr>
        </p:nvSpPr>
        <p:spPr bwMode="auto">
          <a:xfrm>
            <a:off x="381000" y="1676400"/>
            <a:ext cx="8382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Tx/>
              <a:buNone/>
              <a:defRPr sz="1400" b="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42EE262-5FB5-430D-824D-4787C2987FD3}" type="datetime1">
              <a:rPr lang="en-US" altLang="zh-CN" smtClean="0"/>
              <a:t>5/1/2026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Tx/>
              <a:buNone/>
              <a:defRPr sz="1400" b="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 Introduction to Database Systems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96988"/>
            <a:ext cx="533400" cy="2111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srgbClr val="FFFFFF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-76200" y="1296988"/>
            <a:ext cx="66675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2A8800B2-9839-4FFE-BC68-124E3E8FD55F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058" name="Picture 1" descr="E:\2013Qi\2012教育部奖 杰青申请 安徽省科技进步奖\申请资料\答辩PPT\ustclogo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77788"/>
            <a:ext cx="1084262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Palatino Linotype" panose="0204050205050503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Palatino Linotype" panose="0204050205050503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Palatino Linotype" panose="0204050205050503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Palatino Linotype" panose="0204050205050503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Palatino Linotype" panose="0204050205050503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Palatino Linotype" panose="0204050205050503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Palatino Linotype" panose="0204050205050503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Palatino Linotype" panose="02040502050505030304" pitchFamily="18" charset="0"/>
        </a:defRPr>
      </a:lvl9pPr>
    </p:titleStyle>
    <p:bodyStyle>
      <a:lvl1pPr marL="319405" indent="-319405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o"/>
        <a:defRPr sz="2600">
          <a:solidFill>
            <a:schemeClr val="tx1"/>
          </a:solidFill>
          <a:latin typeface="+mn-lt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>
          <a:solidFill>
            <a:schemeClr val="tx1"/>
          </a:solidFill>
          <a:latin typeface="+mn-lt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>
          <a:solidFill>
            <a:schemeClr val="tx1"/>
          </a:solidFill>
          <a:latin typeface="+mn-lt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>
          <a:solidFill>
            <a:schemeClr val="tx1"/>
          </a:solidFill>
          <a:latin typeface="+mn-lt"/>
        </a:defRPr>
      </a:lvl5pPr>
      <a:lvl6pPr marL="22860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>
          <a:solidFill>
            <a:schemeClr val="tx1"/>
          </a:solidFill>
          <a:latin typeface="+mn-lt"/>
        </a:defRPr>
      </a:lvl6pPr>
      <a:lvl7pPr marL="27432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>
          <a:solidFill>
            <a:schemeClr val="tx1"/>
          </a:solidFill>
          <a:latin typeface="+mn-lt"/>
        </a:defRPr>
      </a:lvl7pPr>
      <a:lvl8pPr marL="32004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>
          <a:solidFill>
            <a:schemeClr val="tx1"/>
          </a:solidFill>
          <a:latin typeface="+mn-lt"/>
        </a:defRPr>
      </a:lvl8pPr>
      <a:lvl9pPr marL="36576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/>
          </p:cNvSpPr>
          <p:nvPr>
            <p:ph type="title"/>
          </p:nvPr>
        </p:nvSpPr>
        <p:spPr>
          <a:xfrm>
            <a:off x="485086" y="2001341"/>
            <a:ext cx="8173827" cy="4104456"/>
          </a:xfrm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4800" noProof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数据库系统及应用</a:t>
            </a:r>
            <a:r>
              <a:rPr lang="zh-CN" altLang="en-US" sz="4400" noProof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br>
              <a:rPr lang="en-US" altLang="zh-CN" sz="2800" noProof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br>
              <a:rPr lang="en-US" altLang="zh-CN" sz="2800" noProof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课程设计</a:t>
            </a:r>
            <a:r>
              <a:rPr lang="en-US" altLang="zh-CN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数据库系统设计与开发</a:t>
            </a:r>
            <a:br>
              <a:rPr lang="en-US" altLang="zh-CN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br>
              <a:rPr lang="en-US" altLang="zh-CN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br>
              <a:rPr lang="en-US" altLang="zh-CN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br>
              <a:rPr lang="en-US" altLang="zh-CN" sz="2400" b="0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400" b="0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2026</a:t>
            </a:r>
            <a:r>
              <a:rPr lang="zh-CN" altLang="en-US" sz="2400" b="0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 </a:t>
            </a:r>
            <a:r>
              <a:rPr lang="en-US" altLang="zh-CN" sz="2400" b="0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0" noProof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endParaRPr lang="en-US" altLang="zh-CN" sz="4400" b="0" noProof="1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344613" y="469900"/>
            <a:ext cx="7391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Palatino Linotype" panose="020405020505050303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Palatino Linotype" panose="020405020505050303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Palatino Linotype" panose="020405020505050303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Palatino Linotype" panose="02040502050505030304" pitchFamily="18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Palatino Linotype" panose="02040502050505030304" pitchFamily="18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Palatino Linotype" panose="02040502050505030304" pitchFamily="18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Palatino Linotype" panose="02040502050505030304" pitchFamily="18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en-US" altLang="zh-CN" sz="3600" kern="0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2026</a:t>
            </a:r>
            <a:r>
              <a:rPr lang="zh-CN" altLang="en-US" sz="3600" kern="0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年春季学期</a:t>
            </a:r>
            <a:endParaRPr lang="en-US" altLang="zh-CN" sz="3600" kern="0" dirty="0">
              <a:solidFill>
                <a:srgbClr val="B95B2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5105400" cy="990600"/>
          </a:xfrm>
        </p:spPr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课程设计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381000" y="1660525"/>
            <a:ext cx="8382000" cy="495300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课程设计的目标：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综合能力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项目开发与管理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数据库设计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buFont typeface="Wingdings" panose="05000000000000000000" charset="0"/>
              <a:buChar char="p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寻找问题，分析问题，概念设计，模式设计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etc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掌握编程开发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buFont typeface="Wingdings" panose="05000000000000000000" charset="0"/>
              <a:buChar char="p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前段开发，后台开发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etc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charset="0"/>
              <a:buChar char="p"/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381000" y="1660525"/>
            <a:ext cx="8763000" cy="495300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如何开发数据库系统？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软件工程：软件生命周期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buFont typeface="Wingdings" panose="05000000000000000000" charset="0"/>
              <a:buChar char="p"/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需求分析；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可行性分析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；概要设计；详细设计；编码和单元测试；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综合测试；软件维护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服务器，客户端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前端，后台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界面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设计框架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buFont typeface="Wingdings" panose="05000000000000000000" charset="0"/>
              <a:buChar char="p"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C/S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架构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buFont typeface="Wingdings" panose="05000000000000000000" charset="0"/>
              <a:buChar char="p"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B/S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架构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>
              <a:buFont typeface="Wingdings" panose="05000000000000000000" charset="0"/>
              <a:buChar char="p"/>
            </a:pP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架构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51460" y="1628775"/>
            <a:ext cx="8713028" cy="46805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C/S架构</a:t>
            </a:r>
          </a:p>
          <a:p>
            <a:pPr marL="777875" lvl="1" indent="-45720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C/S 架构即 Client/Server 架构，其中 Client 是一个运行在用户设备上的软件，它负责接受用户的请求，显示处理结果，必要的时候还能完成一些简单的计算</a:t>
            </a:r>
          </a:p>
          <a:p>
            <a:pPr marL="777875" lvl="1" indent="-45720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Client 和 Server 通常在传输层工作，使用 TCP 和 UDP 协议进行通信</a:t>
            </a:r>
          </a:p>
          <a:p>
            <a:pPr marL="777875" lvl="1" indent="-45720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C/S架构的软件需要下载客户端，安装后就可以使用</a:t>
            </a:r>
          </a:p>
          <a:p>
            <a:pPr marL="777875" lvl="1" indent="-457200"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C/S </a:t>
            </a:r>
            <a:r>
              <a:rPr lang="en-US" altLang="zh-CN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架构的常见例子：QQ，微信的手机端和电脑端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架构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51520" y="1660525"/>
            <a:ext cx="8568952" cy="4953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/S架构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77875" lvl="1" indent="-45720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B/S 架构即 Browser/Server 架构，Browser（浏览器）取代了Client，负责图像界面的功能，此处的 Server它同样使运行在服务器主机的一整套服务，但是其与 Browser 交互的对象不再是数据包，而是http请求和html 网页</a:t>
            </a:r>
          </a:p>
          <a:p>
            <a:pPr marL="777875" lvl="1" indent="-45720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Browser 和 Server 在应用层工作，使用 http 协议进行通信</a:t>
            </a:r>
          </a:p>
          <a:p>
            <a:pPr marL="777875" lvl="1" indent="-45720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B/S 架构的常见例子：QQ 网页版，CODIA，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LUNA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展示</a:t>
            </a: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251520" y="1586010"/>
            <a:ext cx="8641020" cy="2707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2860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zh-CN" altLang="en-US" kern="0" dirty="0">
                <a:latin typeface="楷体" panose="02010609060101010101" pitchFamily="49" charset="-122"/>
                <a:ea typeface="楷体" panose="02010609060101010101" pitchFamily="49" charset="-122"/>
              </a:rPr>
              <a:t>几个课程设计的例子</a:t>
            </a:r>
            <a:endParaRPr lang="en-US" altLang="zh-CN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学籍管理系统</a:t>
            </a:r>
            <a:endParaRPr lang="en-US" altLang="zh-CN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kern="0" dirty="0">
                <a:latin typeface="楷体" panose="02010609060101010101" pitchFamily="49" charset="-122"/>
                <a:ea typeface="楷体" panose="02010609060101010101" pitchFamily="49" charset="-122"/>
              </a:rPr>
              <a:t>毕业设计管理系统</a:t>
            </a:r>
            <a:endParaRPr lang="en-US" altLang="zh-CN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kern="0" dirty="0">
                <a:latin typeface="楷体" panose="02010609060101010101" pitchFamily="49" charset="-122"/>
                <a:ea typeface="楷体" panose="02010609060101010101" pitchFamily="49" charset="-122"/>
              </a:rPr>
              <a:t>银行管理系统</a:t>
            </a:r>
            <a:endParaRPr lang="en-US" altLang="zh-CN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p"/>
            </a:pPr>
            <a:endParaRPr lang="zh-CN" altLang="en-US" b="1" kern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展示</a:t>
            </a: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0" y="1586010"/>
            <a:ext cx="8892540" cy="336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2860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/S架构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学籍管理系统</a:t>
            </a:r>
          </a:p>
        </p:txBody>
      </p:sp>
      <p:pic>
        <p:nvPicPr>
          <p:cNvPr id="11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2040" y="806611"/>
            <a:ext cx="3794283" cy="276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2922" y="2420887"/>
            <a:ext cx="2647791" cy="427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8100" y="3787074"/>
            <a:ext cx="4877203" cy="286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展示</a:t>
            </a: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0" y="1586010"/>
            <a:ext cx="8892540" cy="1194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2860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/S架构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学籍管理系统</a:t>
            </a:r>
            <a:endParaRPr lang="en-US" altLang="zh-CN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概要设计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E-R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-2147482600" descr="IMG_2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87824" y="2420888"/>
            <a:ext cx="5832564" cy="435095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 txBox="1"/>
          <p:nvPr/>
        </p:nvSpPr>
        <p:spPr bwMode="auto">
          <a:xfrm>
            <a:off x="223404" y="1574110"/>
            <a:ext cx="8892540" cy="4680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2860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en-US" altLang="zh-CN" kern="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/S架构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毕业设计管理系统</a:t>
            </a:r>
          </a:p>
        </p:txBody>
      </p:sp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展示</a:t>
            </a:r>
          </a:p>
        </p:txBody>
      </p:sp>
      <p:pic>
        <p:nvPicPr>
          <p:cNvPr id="2" name="图片 2"/>
          <p:cNvPicPr>
            <a:picLocks noGrp="1" noChangeAspect="1"/>
          </p:cNvPicPr>
          <p:nvPr>
            <p:ph idx="1"/>
          </p:nvPr>
        </p:nvPicPr>
        <p:blipFill>
          <a:blip r:embed="rId3"/>
          <a:srcRect b="8678"/>
          <a:stretch>
            <a:fillRect/>
          </a:stretch>
        </p:blipFill>
        <p:spPr>
          <a:xfrm>
            <a:off x="628078" y="2070013"/>
            <a:ext cx="4850202" cy="2365033"/>
          </a:xfrm>
          <a:prstGeom prst="rect">
            <a:avLst/>
          </a:prstGeom>
          <a:ln>
            <a:noFill/>
          </a:ln>
        </p:spPr>
      </p:pic>
      <p:pic>
        <p:nvPicPr>
          <p:cNvPr id="3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605" y="4484719"/>
            <a:ext cx="5233369" cy="2373281"/>
          </a:xfrm>
          <a:prstGeom prst="rect">
            <a:avLst/>
          </a:prstGeom>
        </p:spPr>
      </p:pic>
      <p:pic>
        <p:nvPicPr>
          <p:cNvPr id="6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239" y="3269044"/>
            <a:ext cx="4731912" cy="21512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展示</a:t>
            </a: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0" y="1586010"/>
            <a:ext cx="8892540" cy="1194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2860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/S架构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毕业设计管理系统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907704" y="2060848"/>
            <a:ext cx="5357068" cy="4720059"/>
            <a:chOff x="1979295" y="2056130"/>
            <a:chExt cx="4637405" cy="4436745"/>
          </a:xfrm>
        </p:grpSpPr>
        <p:pic>
          <p:nvPicPr>
            <p:cNvPr id="8" name="图片 10" descr="捕获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9295" y="2056130"/>
              <a:ext cx="4637405" cy="443674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73743094" name="图片 107374309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95750" y="2895600"/>
              <a:ext cx="404495" cy="29337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" name="图片 8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5035" y="2895283"/>
              <a:ext cx="419100" cy="30289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" name="图片 11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19395" y="3847148"/>
              <a:ext cx="419100" cy="30289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" name="图片 12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8315" y="4332923"/>
              <a:ext cx="419100" cy="30289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" name="图片 1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0745" y="4029393"/>
              <a:ext cx="419100" cy="30289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73743099" name="图片 1073743098" descr="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81388" y="3561080"/>
              <a:ext cx="371475" cy="2857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5" name="图片 14" descr="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4733" y="3632835"/>
              <a:ext cx="371475" cy="2857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" name="图片 15" descr="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86998" y="4549140"/>
              <a:ext cx="371475" cy="28575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展示</a:t>
            </a: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323850" y="1515526"/>
            <a:ext cx="8892540" cy="228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2860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en-US" altLang="zh-CN" kern="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/S架构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银行管理系统</a:t>
            </a:r>
          </a:p>
        </p:txBody>
      </p:sp>
      <p:pic>
        <p:nvPicPr>
          <p:cNvPr id="11" name="图片 10" descr="其它之人性化的选择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38" y="3190427"/>
            <a:ext cx="3339432" cy="2682260"/>
          </a:xfrm>
          <a:prstGeom prst="rect">
            <a:avLst/>
          </a:prstGeom>
        </p:spPr>
      </p:pic>
      <p:pic>
        <p:nvPicPr>
          <p:cNvPr id="9" name="图片 8" descr="客户管理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070" y="1984047"/>
            <a:ext cx="5276555" cy="2547510"/>
          </a:xfrm>
          <a:prstGeom prst="rect">
            <a:avLst/>
          </a:prstGeom>
        </p:spPr>
      </p:pic>
      <p:pic>
        <p:nvPicPr>
          <p:cNvPr id="8" name="图片 7" descr="贷款管理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58295" y="4265948"/>
            <a:ext cx="5249330" cy="2531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展示</a:t>
            </a: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125730" y="1556800"/>
            <a:ext cx="8892540" cy="1194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6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baseline="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2860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/S架构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毕业设计管理系统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27" y="2154259"/>
            <a:ext cx="6935146" cy="45568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5791200" cy="990600"/>
          </a:xfrm>
        </p:spPr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—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开发语言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51460" y="1628775"/>
            <a:ext cx="8576310" cy="4953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python </a:t>
            </a:r>
          </a:p>
          <a:p>
            <a:pPr marL="777875" lvl="1" indent="-45720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C/S ：python + pyQt/Tkinter（python 下的图形界面开发库） </a:t>
            </a:r>
          </a:p>
          <a:p>
            <a:pPr marL="777875" lvl="1" indent="-45720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B/S：python + Flask/Django（web 框架）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Java 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C/S: java + Swing （java 图形界面库） 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B/S: java + jsp （java 服务器动态页面语言）+ tomcat（severlet 容器，提供 jsp 服务）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Node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B/S: express框架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6205220" cy="990600"/>
          </a:xfrm>
        </p:spPr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—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开发流程 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83845" y="1628800"/>
            <a:ext cx="8576310" cy="53733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前端：根据软件的功能需求设计界面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663575" lvl="1" indent="-342900">
              <a:buFont typeface="Wingdings" panose="05000000000000000000" pitchFamily="2" charset="2"/>
              <a:buChar char="p"/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每种图形界面开发库中，都会提供一系列的图形组件，例如菜单，按钮，文本框，画布等组件，在一个主窗口中添加需要的组件，便构成了一个初步的图形界面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后端：根据软件的功能需求提供数据接口</a:t>
            </a:r>
          </a:p>
          <a:p>
            <a:pPr marL="663575" lvl="1" indent="-342900">
              <a:buFont typeface="Wingdings" panose="05000000000000000000" pitchFamily="2" charset="2"/>
              <a:buChar char="p"/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从数据库或其他数据源</a:t>
            </a:r>
            <a:r>
              <a:rPr lang="zh-CN" altLang="en-US" sz="1800" b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写入、读取和处理数据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前后端对接：设计针对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每个交互事件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的响应函数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663575" lvl="1" indent="-342900">
              <a:buFont typeface="Wingdings" panose="05000000000000000000" pitchFamily="2" charset="2"/>
              <a:buChar char="p"/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图形界面针对每个组件还有鼠标悬浮，点击，选中等事件响应机制。当我们执行这些触发动作时，就会触发一个由我们设计的响应函数来执行。因此我们可以实现用户动作到后端控制代码的映射，完成前后端的交流。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设计主窗口启动代码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一旦我们启动主窗口，便会打开一个客户端图形界面，该图形界面便会用绑定好的响应函数来响应的动作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6447155" cy="990600"/>
          </a:xfrm>
        </p:spPr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数据库系统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—</a:t>
            </a:r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简单</a:t>
            </a:r>
            <a:r>
              <a:rPr lang="en-US" altLang="zh-CN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demo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51460" y="1628775"/>
            <a:ext cx="8713028" cy="495300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b="1" dirty="0" err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学生登录则可查看学生的课程成绩</a:t>
            </a:r>
            <a:r>
              <a:rPr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。（在数据库中需创建student，course, </a:t>
            </a:r>
            <a:r>
              <a:rPr b="1" dirty="0" err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sc表，附相关的sql语句，可通过workbench直接导入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。</a:t>
            </a:r>
            <a:r>
              <a:rPr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</a:t>
            </a:r>
            <a:r>
              <a:rPr b="1" dirty="0" err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用户登录</a:t>
            </a:r>
            <a:r>
              <a:rPr lang="zh-CN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  <a:endParaRPr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0" indent="0">
              <a:buNone/>
            </a:pPr>
            <a:endParaRPr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</a:t>
            </a:r>
            <a:r>
              <a:rPr b="1" dirty="0" err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登录成功后</a:t>
            </a:r>
            <a:r>
              <a:rPr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</a:p>
          <a:p>
            <a:pPr marL="0" indent="0">
              <a:buNone/>
            </a:pPr>
            <a:endParaRPr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</a:t>
            </a:r>
            <a:r>
              <a:rPr b="1" dirty="0" err="1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密码输入错误后</a:t>
            </a:r>
            <a:r>
              <a:rPr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</a:t>
            </a:r>
          </a:p>
        </p:txBody>
      </p:sp>
      <p:pic>
        <p:nvPicPr>
          <p:cNvPr id="8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23928" y="3073400"/>
            <a:ext cx="2559050" cy="1089025"/>
          </a:xfrm>
          <a:prstGeom prst="rect">
            <a:avLst/>
          </a:prstGeom>
        </p:spPr>
      </p:pic>
      <p:pic>
        <p:nvPicPr>
          <p:cNvPr id="9" name="图片 9"/>
          <p:cNvPicPr>
            <a:picLocks noChangeAspect="1"/>
          </p:cNvPicPr>
          <p:nvPr/>
        </p:nvPicPr>
        <p:blipFill>
          <a:blip r:embed="rId5"/>
          <a:srcRect t="24026"/>
          <a:stretch>
            <a:fillRect/>
          </a:stretch>
        </p:blipFill>
        <p:spPr>
          <a:xfrm>
            <a:off x="3275856" y="4226560"/>
            <a:ext cx="4643120" cy="1024890"/>
          </a:xfrm>
          <a:prstGeom prst="rect">
            <a:avLst/>
          </a:prstGeom>
          <a:ln>
            <a:noFill/>
          </a:ln>
        </p:spPr>
      </p:pic>
      <p:pic>
        <p:nvPicPr>
          <p:cNvPr id="10" name="图片 10"/>
          <p:cNvPicPr>
            <a:picLocks noChangeAspect="1"/>
          </p:cNvPicPr>
          <p:nvPr/>
        </p:nvPicPr>
        <p:blipFill>
          <a:blip r:embed="rId6"/>
          <a:srcRect l="8447" t="21692" r="8066" b="16961"/>
          <a:stretch>
            <a:fillRect/>
          </a:stretch>
        </p:blipFill>
        <p:spPr>
          <a:xfrm>
            <a:off x="3707904" y="5315585"/>
            <a:ext cx="3332480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6837680" cy="990600"/>
          </a:xfrm>
        </p:spPr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课程设计要求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51460" y="1628775"/>
            <a:ext cx="8576310" cy="495300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目标：完成一个真正的数据库应用开发，要求具有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需求/功能分析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架构和语言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界面（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UI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）设计（不要求美工，但功能需完整）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后端逻辑实现（数据库设计）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软件测试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撰写报告：(说明)文档</a:t>
            </a:r>
          </a:p>
          <a:p>
            <a:pPr>
              <a:buNone/>
            </a:pP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课程设计要求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51460" y="1628775"/>
            <a:ext cx="8576310" cy="495300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选题：要求从提供的课题信息中选择一个课题，鼓励对课题进行扩充；也可自选课题，但需提前报备</a:t>
            </a:r>
          </a:p>
          <a:p>
            <a:pPr>
              <a:buFont typeface="Wingdings" panose="05000000000000000000" charset="0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需求分析：明确课题的各种需求，包括：数据需求、功能需求及其他需求</a:t>
            </a:r>
          </a:p>
          <a:p>
            <a:pPr>
              <a:buFont typeface="Wingdings" panose="05000000000000000000" charset="0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数据库设计：根据需求分析设计相应的数据库；</a:t>
            </a:r>
          </a:p>
          <a:p>
            <a:pPr>
              <a:buFont typeface="Wingdings" panose="05000000000000000000" charset="0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系统实现：选定相应的系统架构、开发语言，实现一个完整的数据库应用系统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课题信息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51460" y="1628774"/>
            <a:ext cx="8785036" cy="5184601"/>
          </a:xfrm>
        </p:spPr>
        <p:txBody>
          <a:bodyPr/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1. 学籍管理系统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涉及：学生基本信息、专业变更、奖惩情况、课程管理、课程成绩等相关实体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2. 毕业设计管理系统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涉及：课题信息、学生选题信息、中期检查、答辩情况、成绩（学号、指导教师成绩、评阅教师成绩、答辩小组成绩、最终成绩等）相关实体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3. 银行管理系统</a:t>
            </a:r>
          </a:p>
          <a:p>
            <a:pPr marL="0" indent="0"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涉及：银行信息、客户信息、账户信息、贷款信息、银行部门信息、员工信息相关实体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课题信息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51460" y="1628775"/>
            <a:ext cx="8785036" cy="4953000"/>
          </a:xfrm>
        </p:spPr>
        <p:txBody>
          <a:bodyPr/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4. 图书馆信息管理系统</a:t>
            </a:r>
          </a:p>
          <a:p>
            <a:pPr marL="0" indent="0"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涉及：图书信息、图书管理员信息、学生信息、学生借阅信息、学生预定信息、学生借阅违期信息等实体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marL="0" indent="0">
              <a:buNone/>
            </a:pP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5. 学生公寓管理系统</a:t>
            </a:r>
          </a:p>
          <a:p>
            <a:pPr marL="0" indent="0">
              <a:buFont typeface="Wingdings" panose="05000000000000000000" charset="0"/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涉及：公寓信息、公寓管理员信息、学生信息、房间信息、房间维修申报、维修状态、访客登记信息等实体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6837680" cy="990600"/>
          </a:xfrm>
        </p:spPr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课程设计要求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251460" y="1628775"/>
            <a:ext cx="8576310" cy="495300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课程设计考核要求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每人独立完成一个课程设计</a:t>
            </a: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数据库平台：MySQL</a:t>
            </a: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开发语言：不限</a:t>
            </a:r>
          </a:p>
          <a:p>
            <a:pPr lvl="1">
              <a:buFont typeface="Wingdings" panose="05000000000000000000" charset="0"/>
              <a:buChar char="p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软件架构：B/S、C/S</a:t>
            </a:r>
          </a:p>
          <a:p>
            <a:pPr>
              <a:buNone/>
            </a:pP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验收方式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77805" y="1541462"/>
            <a:ext cx="8498651" cy="5316537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线下展示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时间不少于</a:t>
            </a:r>
            <a:r>
              <a:rPr lang="en-US" altLang="zh-CN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分钟</a:t>
            </a:r>
            <a:endParaRPr lang="en-US" altLang="zh-CN" sz="1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报告提交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学号，姓名</a:t>
            </a:r>
            <a:endParaRPr lang="en-US" altLang="zh-CN" sz="1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需求分析合理</a:t>
            </a: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概要设计：</a:t>
            </a:r>
            <a:r>
              <a:rPr lang="en-US" altLang="zh-CN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ER</a:t>
            </a: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图</a:t>
            </a: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数据库设计合理</a:t>
            </a:r>
            <a:endParaRPr lang="en-US" altLang="zh-CN" sz="18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buFont typeface="Wingdings" panose="05000000000000000000" charset="0"/>
              <a:buChar char="p"/>
            </a:pP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数据库模式满足</a:t>
            </a:r>
            <a:r>
              <a:rPr lang="en-US" altLang="zh-CN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3NF</a:t>
            </a: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，如需模式降级，需分析原因</a:t>
            </a: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系统功能能够覆盖需求分析</a:t>
            </a: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用户界面的友好性</a:t>
            </a:r>
            <a:endParaRPr lang="en-US" altLang="zh-CN" sz="18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课程设计报告详细且规范，无明显错误</a:t>
            </a:r>
          </a:p>
          <a:p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必备条件：</a:t>
            </a:r>
            <a:endParaRPr lang="en-US" altLang="zh-CN" sz="18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/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系统中加入对</a:t>
            </a: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图片、视频、文件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的管理</a:t>
            </a:r>
            <a:endParaRPr lang="en-US" altLang="zh-CN" sz="18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/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针对特定需求设计的合理的</a:t>
            </a: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存储过程、函数、事务、触发器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，</a:t>
            </a:r>
            <a:r>
              <a:rPr lang="zh-CN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四项均有</a:t>
            </a:r>
            <a:endParaRPr lang="en-US" altLang="zh-CN" sz="1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4356720" cy="990600"/>
          </a:xfrm>
        </p:spPr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关键时间节点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58750" y="1628775"/>
            <a:ext cx="8985250" cy="4953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6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日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(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前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)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：确认需求分析，概要设计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ER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图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邮件提交需求分析说明和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ER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图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邮件地址：</a:t>
            </a:r>
            <a:r>
              <a:rPr lang="zh-CN" altLang="en-US" sz="2100" b="1" u="sng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助教将发送至班级群里</a:t>
            </a:r>
            <a:endParaRPr lang="en-US" altLang="zh-CN" sz="2100" b="1" u="sng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邮件主题：数据库需求分析提交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姓名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学号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附件：主题名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.pdf / 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主题名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.zip / …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FEF36D-44B1-5A4E-5551-3E0F8E664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56" y="4581128"/>
            <a:ext cx="5333333" cy="1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95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4356720" cy="990600"/>
          </a:xfrm>
        </p:spPr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关键时间节点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58750" y="1628775"/>
            <a:ext cx="8985250" cy="4953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期末考试前：完成演示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（实验课）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 b="1" u="sng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利用实验课时间</a:t>
            </a:r>
            <a:endParaRPr lang="en-US" altLang="zh-CN" sz="2400" b="1" u="sng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扣分点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功能不完善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需求分析、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ER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图与系统不符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抄袭嫌疑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6446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4356720" cy="990600"/>
          </a:xfrm>
        </p:spPr>
        <p:txBody>
          <a:bodyPr/>
          <a:lstStyle/>
          <a:p>
            <a:r>
              <a:rPr lang="zh-CN" altLang="en-US" b="1" dirty="0">
                <a:solidFill>
                  <a:srgbClr val="B95B2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关键时间节点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58750" y="1628775"/>
            <a:ext cx="8985250" cy="49530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期末考试前：提交课程设计报告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（邮件）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报告内容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前期设计：需求分析、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ER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图、模式设计等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实现说明：框架结构、核心代码解析、仓库地址等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结果展示：项目运行截图展示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通过邮件提交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邮件主题：数据库报告提交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姓名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-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学号</a:t>
            </a:r>
            <a:endParaRPr lang="en-US" altLang="zh-CN" sz="21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2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其他要求同“需求分析</a:t>
            </a:r>
            <a:r>
              <a:rPr lang="en-US" altLang="zh-CN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/ER</a:t>
            </a:r>
            <a:r>
              <a:rPr lang="zh-CN" altLang="en-US" sz="21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图”的提交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备注：鼓励大家早做早交！尽量不赶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DDL!</a:t>
            </a:r>
          </a:p>
          <a:p>
            <a:pPr lvl="1">
              <a:buFont typeface="Wingdings" panose="05000000000000000000" charset="0"/>
              <a:buChar char="p"/>
            </a:pP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396,&quot;width&quot;:857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943,&quot;width&quot;:144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16,&quot;width&quot;:5207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Rutgers">
  <a:themeElements>
    <a:clrScheme name="Rutgers 1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FFFFFF"/>
      </a:accent3>
      <a:accent4>
        <a:srgbClr val="000000"/>
      </a:accent4>
      <a:accent5>
        <a:srgbClr val="C8D7E5"/>
      </a:accent5>
      <a:accent6>
        <a:srgbClr val="C8733F"/>
      </a:accent6>
      <a:hlink>
        <a:srgbClr val="F7B615"/>
      </a:hlink>
      <a:folHlink>
        <a:srgbClr val="704404"/>
      </a:folHlink>
    </a:clrScheme>
    <a:fontScheme name="Rutgers">
      <a:majorFont>
        <a:latin typeface="Palatino Linotype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utgers 1">
        <a:dk1>
          <a:srgbClr val="000000"/>
        </a:dk1>
        <a:lt1>
          <a:srgbClr val="FFFFFF"/>
        </a:lt1>
        <a:dk2>
          <a:srgbClr val="775F55"/>
        </a:dk2>
        <a:lt2>
          <a:srgbClr val="EBDDC3"/>
        </a:lt2>
        <a:accent1>
          <a:srgbClr val="94B6D2"/>
        </a:accent1>
        <a:accent2>
          <a:srgbClr val="DD8047"/>
        </a:accent2>
        <a:accent3>
          <a:srgbClr val="FFFFFF"/>
        </a:accent3>
        <a:accent4>
          <a:srgbClr val="000000"/>
        </a:accent4>
        <a:accent5>
          <a:srgbClr val="C8D7E5"/>
        </a:accent5>
        <a:accent6>
          <a:srgbClr val="C8733F"/>
        </a:accent6>
        <a:hlink>
          <a:srgbClr val="F7B615"/>
        </a:hlink>
        <a:folHlink>
          <a:srgbClr val="70440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utgers 1">
    <a:dk1>
      <a:srgbClr val="000000"/>
    </a:dk1>
    <a:lt1>
      <a:srgbClr val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FFFFFF"/>
    </a:accent3>
    <a:accent4>
      <a:srgbClr val="000000"/>
    </a:accent4>
    <a:accent5>
      <a:srgbClr val="C8D7E5"/>
    </a:accent5>
    <a:accent6>
      <a:srgbClr val="C8733F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1278</Words>
  <Application>Microsoft Office PowerPoint</Application>
  <PresentationFormat>全屏显示(4:3)</PresentationFormat>
  <Paragraphs>173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Palatino Linotype</vt:lpstr>
      <vt:lpstr>Times New Roman</vt:lpstr>
      <vt:lpstr>Tw Cen MT</vt:lpstr>
      <vt:lpstr>Wingdings</vt:lpstr>
      <vt:lpstr>楷体</vt:lpstr>
      <vt:lpstr>自定义设计方案</vt:lpstr>
      <vt:lpstr>4_Rutgers</vt:lpstr>
      <vt:lpstr>数据库系统及应用   课程设计—数据库系统设计与开发    2026年 5月</vt:lpstr>
      <vt:lpstr>课程设计—数据库系统</vt:lpstr>
      <vt:lpstr>数据库系统</vt:lpstr>
      <vt:lpstr>数据库系统—架构</vt:lpstr>
      <vt:lpstr>数据库系统—架构</vt:lpstr>
      <vt:lpstr>数据库系统-展示</vt:lpstr>
      <vt:lpstr>数据库系统-展示</vt:lpstr>
      <vt:lpstr>数据库系统-展示</vt:lpstr>
      <vt:lpstr>数据库系统-展示</vt:lpstr>
      <vt:lpstr>数据库系统-展示</vt:lpstr>
      <vt:lpstr>数据库系统—展示</vt:lpstr>
      <vt:lpstr>数据库系统-展示</vt:lpstr>
      <vt:lpstr>数据库系统—开发语言</vt:lpstr>
      <vt:lpstr>数据库系统—开发流程 </vt:lpstr>
      <vt:lpstr>数据库系统—简单demo</vt:lpstr>
      <vt:lpstr>课程设计要求</vt:lpstr>
      <vt:lpstr>课程设计要求</vt:lpstr>
      <vt:lpstr>课题信息</vt:lpstr>
      <vt:lpstr>课题信息</vt:lpstr>
      <vt:lpstr>课程设计要求</vt:lpstr>
      <vt:lpstr>验收方式</vt:lpstr>
      <vt:lpstr>关键时间节点</vt:lpstr>
      <vt:lpstr>关键时间节点</vt:lpstr>
      <vt:lpstr>关键时间节点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数据库系统概论  An Introduction to Database Systems</dc:title>
  <dc:creator>Zhenya Huang</dc:creator>
  <cp:lastModifiedBy>Administrator</cp:lastModifiedBy>
  <cp:revision>509</cp:revision>
  <cp:lastPrinted>2021-03-20T13:16:00Z</cp:lastPrinted>
  <dcterms:created xsi:type="dcterms:W3CDTF">2022-03-12T15:11:00Z</dcterms:created>
  <dcterms:modified xsi:type="dcterms:W3CDTF">2026-05-01T08:24:22Z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CF577F59E0E4445DBEEBD0413A2DBACF</vt:lpwstr>
  </property>
  <property fmtid="{D5CDD505-2E9C-101B-9397-08002B2CF9AE}" pid="3" name="KSOProductBuildVer">
    <vt:lpwstr>2052-11.1.0.11365</vt:lpwstr>
  </property>
</Properties>
</file>